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y="5143500" cx="9144000"/>
  <p:notesSz cx="6858000" cy="9144000"/>
  <p:embeddedFontLst>
    <p:embeddedFont>
      <p:font typeface="Castoro"/>
      <p:regular r:id="rId40"/>
      <p: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2" name="Derek Hodgkins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Castoro-regular.fntdata"/><Relationship Id="rId20" Type="http://schemas.openxmlformats.org/officeDocument/2006/relationships/slide" Target="slides/slide14.xml"/><Relationship Id="rId41" Type="http://schemas.openxmlformats.org/officeDocument/2006/relationships/font" Target="fonts/Castoro-italic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2-18T10:09:08.514">
    <p:pos x="6000" y="0"/>
    <p:text>should we mention that the main purpose of this project is to like display the difference between probability on confirmations vs time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2-19T07:35:10.081">
    <p:pos x="678" y="1432"/>
    <p:text>brought in some higher quality versions
1 total reaction
Zong Xiong reacted with 😍 at 2026-02-19 07:35 AM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c889b9f61b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c889b9f61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94b0d3aed_3_3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94b0d3aed_3_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94b0d3aed_3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94b0d3aed_3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94b0d3aed_3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c94b0d3aed_3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94b0d3aed_3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c94b0d3aed_3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94b0d3aed_3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94b0d3aed_3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94b0d3aed_3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94b0d3aed_3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94b0d3aed_3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94b0d3aed_3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94b0d3aed_3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94b0d3aed_3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c94b0d3aed_3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c94b0d3aed_3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c94b0d3aed_3_2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c94b0d3aed_3_2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c94b0d3aed_3_2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c94b0d3aed_3_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c94b0d3aed_3_3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c94b0d3aed_3_3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94b0d3aed_3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94b0d3aed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c94b0d3aed_3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c94b0d3aed_3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c889b9f6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c889b9f6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c889b9f61b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c889b9f61b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889b9f61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889b9f61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c889b9f61b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c889b9f61b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c889b9f61b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c889b9f61b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c94b0d3aed_2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c94b0d3aed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c889b9f61b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c889b9f61b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c889b9f61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c889b9f61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889b9f61b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889b9f61b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c889b9f61b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c889b9f61b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c94b0d3aed_2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c94b0d3aed_2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c94b0d3aed_2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c94b0d3aed_2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c94b0d3aed_2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c94b0d3aed_2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c889b9f61b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c889b9f61b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c94b0d3aed_2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c94b0d3aed_2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c938d306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c938d306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c94b0d3aed_2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c94b0d3aed_2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storo"/>
              <a:buNone/>
              <a:defRPr sz="2800">
                <a:solidFill>
                  <a:schemeClr val="dk1"/>
                </a:solidFill>
                <a:latin typeface="Castoro"/>
                <a:ea typeface="Castoro"/>
                <a:cs typeface="Castoro"/>
                <a:sym typeface="Casto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astoro"/>
              <a:buChar char="●"/>
              <a:defRPr sz="1800"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○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■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●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○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■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●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○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storo"/>
              <a:buChar char="■"/>
              <a:defRPr>
                <a:solidFill>
                  <a:schemeClr val="dk2"/>
                </a:solidFill>
                <a:latin typeface="Castoro"/>
                <a:ea typeface="Castoro"/>
                <a:cs typeface="Castoro"/>
                <a:sym typeface="Casto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Relationship Id="rId5" Type="http://schemas.openxmlformats.org/officeDocument/2006/relationships/image" Target="../media/image8.png"/><Relationship Id="rId6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1" Type="http://schemas.openxmlformats.org/officeDocument/2006/relationships/image" Target="../media/image14.png"/><Relationship Id="rId10" Type="http://schemas.openxmlformats.org/officeDocument/2006/relationships/image" Target="../media/image8.png"/><Relationship Id="rId12" Type="http://schemas.openxmlformats.org/officeDocument/2006/relationships/image" Target="../media/image13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1" Type="http://schemas.openxmlformats.org/officeDocument/2006/relationships/image" Target="../media/image14.png"/><Relationship Id="rId10" Type="http://schemas.openxmlformats.org/officeDocument/2006/relationships/image" Target="../media/image8.png"/><Relationship Id="rId12" Type="http://schemas.openxmlformats.org/officeDocument/2006/relationships/image" Target="../media/image13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1" Type="http://schemas.openxmlformats.org/officeDocument/2006/relationships/image" Target="../media/image14.png"/><Relationship Id="rId10" Type="http://schemas.openxmlformats.org/officeDocument/2006/relationships/image" Target="../media/image8.png"/><Relationship Id="rId12" Type="http://schemas.openxmlformats.org/officeDocument/2006/relationships/image" Target="../media/image13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1" Type="http://schemas.openxmlformats.org/officeDocument/2006/relationships/image" Target="../media/image14.png"/><Relationship Id="rId10" Type="http://schemas.openxmlformats.org/officeDocument/2006/relationships/image" Target="../media/image8.png"/><Relationship Id="rId12" Type="http://schemas.openxmlformats.org/officeDocument/2006/relationships/image" Target="../media/image13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11" Type="http://schemas.openxmlformats.org/officeDocument/2006/relationships/image" Target="../media/image14.png"/><Relationship Id="rId10" Type="http://schemas.openxmlformats.org/officeDocument/2006/relationships/image" Target="../media/image8.png"/><Relationship Id="rId12" Type="http://schemas.openxmlformats.org/officeDocument/2006/relationships/image" Target="../media/image13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4.png"/><Relationship Id="rId10" Type="http://schemas.openxmlformats.org/officeDocument/2006/relationships/image" Target="../media/image8.png"/><Relationship Id="rId13" Type="http://schemas.openxmlformats.org/officeDocument/2006/relationships/image" Target="../media/image23.png"/><Relationship Id="rId1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image" Target="../media/image14.png"/><Relationship Id="rId13" Type="http://schemas.openxmlformats.org/officeDocument/2006/relationships/image" Target="../media/image8.png"/><Relationship Id="rId1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1.png"/><Relationship Id="rId14" Type="http://schemas.openxmlformats.org/officeDocument/2006/relationships/image" Target="../media/image20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image" Target="../media/image23.png"/><Relationship Id="rId10" Type="http://schemas.openxmlformats.org/officeDocument/2006/relationships/image" Target="../media/image13.png"/><Relationship Id="rId13" Type="http://schemas.openxmlformats.org/officeDocument/2006/relationships/image" Target="../media/image20.png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4.png"/><Relationship Id="rId15" Type="http://schemas.openxmlformats.org/officeDocument/2006/relationships/image" Target="../media/image27.png"/><Relationship Id="rId1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1" Type="http://schemas.openxmlformats.org/officeDocument/2006/relationships/image" Target="../media/image20.png"/><Relationship Id="rId10" Type="http://schemas.openxmlformats.org/officeDocument/2006/relationships/image" Target="../media/image8.png"/><Relationship Id="rId13" Type="http://schemas.openxmlformats.org/officeDocument/2006/relationships/image" Target="../media/image27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1" Type="http://schemas.openxmlformats.org/officeDocument/2006/relationships/image" Target="../media/image27.png"/><Relationship Id="rId10" Type="http://schemas.openxmlformats.org/officeDocument/2006/relationships/image" Target="../media/image11.png"/><Relationship Id="rId1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9.png"/><Relationship Id="rId8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1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2.xml"/><Relationship Id="rId4" Type="http://schemas.openxmlformats.org/officeDocument/2006/relationships/image" Target="../media/image24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Relationship Id="rId4" Type="http://schemas.openxmlformats.org/officeDocument/2006/relationships/image" Target="../media/image25.png"/><Relationship Id="rId5" Type="http://schemas.openxmlformats.org/officeDocument/2006/relationships/image" Target="../media/image1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9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gif"/><Relationship Id="rId4" Type="http://schemas.openxmlformats.org/officeDocument/2006/relationships/image" Target="../media/image33.gif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docs.webix.com/desktop__dynamic_chart.html" TargetMode="External"/><Relationship Id="rId4" Type="http://schemas.openxmlformats.org/officeDocument/2006/relationships/hyperlink" Target="https://www.geeksforgeeks.org/python/dynamically-updating-plot-in-matplotlib/" TargetMode="External"/><Relationship Id="rId5" Type="http://schemas.openxmlformats.org/officeDocument/2006/relationships/hyperlink" Target="https://pypi.org/project/ltt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3698" y="2751975"/>
            <a:ext cx="1740225" cy="174022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>
            <p:ph type="ctrTitle"/>
          </p:nvPr>
        </p:nvSpPr>
        <p:spPr>
          <a:xfrm>
            <a:off x="311708" y="-24602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Double Spend Website</a:t>
            </a:r>
            <a:endParaRPr/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311700" y="18435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Lars </a:t>
            </a:r>
            <a:r>
              <a:rPr lang="en"/>
              <a:t>Goozen, Derek </a:t>
            </a:r>
            <a:r>
              <a:rPr lang="en"/>
              <a:t>Hodgkins, Caden </a:t>
            </a:r>
            <a:r>
              <a:rPr lang="en"/>
              <a:t>Kane, Zong </a:t>
            </a:r>
            <a:r>
              <a:rPr lang="en"/>
              <a:t>Xiong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Double</a:t>
            </a:r>
            <a:r>
              <a:rPr lang="en"/>
              <a:t> Spend Background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Requirements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Testing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Roles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Bitcoin Blockchain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Transactions are grouped in blocks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block links to the previous block</a:t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1480950" y="3206863"/>
            <a:ext cx="6182100" cy="1362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7925" y="3272125"/>
            <a:ext cx="5730549" cy="120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Bitcoin Miners</a:t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Miners are computers solving a puzzle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Miners confirm transaction by including them in a new block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Winners publish a new block of the puzzle and receive $$$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block found every ~10 minutes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Following a Consensus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Work on the longest chain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Post block as soon as its found</a:t>
            </a: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344207">
            <a:off x="7156125" y="2435756"/>
            <a:ext cx="1323975" cy="2424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13624" y="3497650"/>
            <a:ext cx="1130550" cy="113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2738" y="895350"/>
            <a:ext cx="2847975" cy="335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24713" y="885825"/>
            <a:ext cx="2876550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71803" y="2825276"/>
            <a:ext cx="755572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28000" y="2825276"/>
            <a:ext cx="639725" cy="63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89450" y="450635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43475" y="11331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/>
          <p:cNvPicPr preferRelativeResize="0"/>
          <p:nvPr/>
        </p:nvPicPr>
        <p:blipFill rotWithShape="1">
          <a:blip r:embed="rId11">
            <a:alphaModFix/>
          </a:blip>
          <a:srcRect b="0" l="0" r="36265" t="0"/>
          <a:stretch/>
        </p:blipFill>
        <p:spPr>
          <a:xfrm>
            <a:off x="1819250" y="2179675"/>
            <a:ext cx="4093301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8"/>
          <p:cNvPicPr preferRelativeResize="0"/>
          <p:nvPr/>
        </p:nvPicPr>
        <p:blipFill rotWithShape="1">
          <a:blip r:embed="rId12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8"/>
          <p:cNvSpPr/>
          <p:nvPr/>
        </p:nvSpPr>
        <p:spPr>
          <a:xfrm>
            <a:off x="2289475" y="2044800"/>
            <a:ext cx="35685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2289475" y="3681300"/>
            <a:ext cx="43128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89450" y="450635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43475" y="11331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/>
          <p:cNvPicPr preferRelativeResize="0"/>
          <p:nvPr/>
        </p:nvPicPr>
        <p:blipFill rotWithShape="1">
          <a:blip r:embed="rId11">
            <a:alphaModFix/>
          </a:blip>
          <a:srcRect b="0" l="0" r="35496" t="0"/>
          <a:stretch/>
        </p:blipFill>
        <p:spPr>
          <a:xfrm>
            <a:off x="1819250" y="2179675"/>
            <a:ext cx="4142651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/>
          <p:cNvPicPr preferRelativeResize="0"/>
          <p:nvPr/>
        </p:nvPicPr>
        <p:blipFill rotWithShape="1">
          <a:blip r:embed="rId12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9"/>
          <p:cNvSpPr/>
          <p:nvPr/>
        </p:nvSpPr>
        <p:spPr>
          <a:xfrm>
            <a:off x="3470400" y="2044800"/>
            <a:ext cx="23874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  <p:sp>
        <p:nvSpPr>
          <p:cNvPr id="118" name="Google Shape;118;p19"/>
          <p:cNvSpPr/>
          <p:nvPr/>
        </p:nvSpPr>
        <p:spPr>
          <a:xfrm>
            <a:off x="2289475" y="3681300"/>
            <a:ext cx="43158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238737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43475" y="11331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0"/>
          <p:cNvPicPr preferRelativeResize="0"/>
          <p:nvPr/>
        </p:nvPicPr>
        <p:blipFill rotWithShape="1">
          <a:blip r:embed="rId11">
            <a:alphaModFix/>
          </a:blip>
          <a:srcRect b="0" l="0" r="36073" t="0"/>
          <a:stretch/>
        </p:blipFill>
        <p:spPr>
          <a:xfrm>
            <a:off x="1819250" y="2179675"/>
            <a:ext cx="4105674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0"/>
          <p:cNvPicPr preferRelativeResize="0"/>
          <p:nvPr/>
        </p:nvPicPr>
        <p:blipFill rotWithShape="1">
          <a:blip r:embed="rId12">
            <a:alphaModFix/>
          </a:blip>
          <a:srcRect b="0" l="0" r="30299" t="0"/>
          <a:stretch/>
        </p:blipFill>
        <p:spPr>
          <a:xfrm>
            <a:off x="1846375" y="3998975"/>
            <a:ext cx="4758601" cy="101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0"/>
          <p:cNvSpPr/>
          <p:nvPr/>
        </p:nvSpPr>
        <p:spPr>
          <a:xfrm>
            <a:off x="3470400" y="2044800"/>
            <a:ext cx="23874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  <p:sp>
        <p:nvSpPr>
          <p:cNvPr id="134" name="Google Shape;134;p20"/>
          <p:cNvSpPr/>
          <p:nvPr/>
        </p:nvSpPr>
        <p:spPr>
          <a:xfrm>
            <a:off x="2289475" y="3681300"/>
            <a:ext cx="43155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1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238737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43475" y="11331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1"/>
          <p:cNvPicPr preferRelativeResize="0"/>
          <p:nvPr/>
        </p:nvPicPr>
        <p:blipFill rotWithShape="1">
          <a:blip r:embed="rId11">
            <a:alphaModFix/>
          </a:blip>
          <a:srcRect b="0" l="0" r="37118" t="0"/>
          <a:stretch/>
        </p:blipFill>
        <p:spPr>
          <a:xfrm>
            <a:off x="1819250" y="2179675"/>
            <a:ext cx="4038599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 rotWithShape="1">
          <a:blip r:embed="rId12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/>
          <p:nvPr/>
        </p:nvSpPr>
        <p:spPr>
          <a:xfrm>
            <a:off x="3470400" y="2044800"/>
            <a:ext cx="23874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  <p:sp>
        <p:nvSpPr>
          <p:cNvPr id="150" name="Google Shape;150;p21"/>
          <p:cNvSpPr/>
          <p:nvPr/>
        </p:nvSpPr>
        <p:spPr>
          <a:xfrm>
            <a:off x="4478400" y="3681300"/>
            <a:ext cx="21018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2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238737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43475" y="11331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2"/>
          <p:cNvPicPr preferRelativeResize="0"/>
          <p:nvPr/>
        </p:nvPicPr>
        <p:blipFill rotWithShape="1">
          <a:blip r:embed="rId11">
            <a:alphaModFix/>
          </a:blip>
          <a:srcRect b="0" l="0" r="37118" t="0"/>
          <a:stretch/>
        </p:blipFill>
        <p:spPr>
          <a:xfrm>
            <a:off x="1819250" y="2179675"/>
            <a:ext cx="4038549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2"/>
          <p:cNvPicPr preferRelativeResize="0"/>
          <p:nvPr/>
        </p:nvPicPr>
        <p:blipFill rotWithShape="1">
          <a:blip r:embed="rId12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2"/>
          <p:cNvSpPr/>
          <p:nvPr/>
        </p:nvSpPr>
        <p:spPr>
          <a:xfrm>
            <a:off x="4744800" y="2044800"/>
            <a:ext cx="11130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  <p:sp>
        <p:nvSpPr>
          <p:cNvPr id="166" name="Google Shape;166;p22"/>
          <p:cNvSpPr/>
          <p:nvPr/>
        </p:nvSpPr>
        <p:spPr>
          <a:xfrm>
            <a:off x="5551200" y="3681300"/>
            <a:ext cx="1004400" cy="136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storo"/>
              <a:ea typeface="Castoro"/>
              <a:cs typeface="Castoro"/>
              <a:sym typeface="Castor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3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238737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143475" y="11331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3"/>
          <p:cNvPicPr preferRelativeResize="0"/>
          <p:nvPr/>
        </p:nvPicPr>
        <p:blipFill rotWithShape="1">
          <a:blip r:embed="rId11">
            <a:alphaModFix/>
          </a:blip>
          <a:srcRect b="0" l="0" r="37118" t="0"/>
          <a:stretch/>
        </p:blipFill>
        <p:spPr>
          <a:xfrm>
            <a:off x="1819250" y="2179675"/>
            <a:ext cx="4038599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3"/>
          <p:cNvPicPr preferRelativeResize="0"/>
          <p:nvPr/>
        </p:nvPicPr>
        <p:blipFill rotWithShape="1">
          <a:blip r:embed="rId12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3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781525" y="2678398"/>
            <a:ext cx="1076325" cy="38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63875" y="1171213"/>
            <a:ext cx="714375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4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238737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4"/>
          <p:cNvPicPr preferRelativeResize="0"/>
          <p:nvPr/>
        </p:nvPicPr>
        <p:blipFill rotWithShape="1">
          <a:blip r:embed="rId10">
            <a:alphaModFix/>
          </a:blip>
          <a:srcRect b="0" l="0" r="36073" t="0"/>
          <a:stretch/>
        </p:blipFill>
        <p:spPr>
          <a:xfrm>
            <a:off x="1819250" y="2179675"/>
            <a:ext cx="4105674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4"/>
          <p:cNvPicPr preferRelativeResize="0"/>
          <p:nvPr/>
        </p:nvPicPr>
        <p:blipFill rotWithShape="1">
          <a:blip r:embed="rId11">
            <a:alphaModFix/>
          </a:blip>
          <a:srcRect b="0" l="0" r="30299" t="0"/>
          <a:stretch/>
        </p:blipFill>
        <p:spPr>
          <a:xfrm>
            <a:off x="1846375" y="3998975"/>
            <a:ext cx="4758576" cy="101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4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781525" y="2678398"/>
            <a:ext cx="1076325" cy="38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4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063875" y="11712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4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055200" y="3821459"/>
            <a:ext cx="714375" cy="64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159125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5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5"/>
          <p:cNvPicPr preferRelativeResize="0"/>
          <p:nvPr/>
        </p:nvPicPr>
        <p:blipFill rotWithShape="1">
          <a:blip r:embed="rId9">
            <a:alphaModFix/>
          </a:blip>
          <a:srcRect b="0" l="0" r="36265" t="0"/>
          <a:stretch/>
        </p:blipFill>
        <p:spPr>
          <a:xfrm>
            <a:off x="1819250" y="2179675"/>
            <a:ext cx="4093301" cy="10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5"/>
          <p:cNvPicPr preferRelativeResize="0"/>
          <p:nvPr/>
        </p:nvPicPr>
        <p:blipFill rotWithShape="1">
          <a:blip r:embed="rId10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4781525" y="2678398"/>
            <a:ext cx="1076325" cy="38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063875" y="11712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5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055200" y="3821459"/>
            <a:ext cx="714375" cy="64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5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3159125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5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5703600" y="283200"/>
            <a:ext cx="466725" cy="40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6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6"/>
          <p:cNvPicPr preferRelativeResize="0"/>
          <p:nvPr/>
        </p:nvPicPr>
        <p:blipFill rotWithShape="1">
          <a:blip r:embed="rId9">
            <a:alphaModFix/>
          </a:blip>
          <a:srcRect b="0" l="0" r="29512" t="0"/>
          <a:stretch/>
        </p:blipFill>
        <p:spPr>
          <a:xfrm>
            <a:off x="1846375" y="3998975"/>
            <a:ext cx="4812350" cy="101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63875" y="11712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055200" y="3821459"/>
            <a:ext cx="714375" cy="64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6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159125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5703600" y="283200"/>
            <a:ext cx="466725" cy="40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425" y="2980625"/>
            <a:ext cx="1630825" cy="1175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0475" y="218725"/>
            <a:ext cx="1238250" cy="145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7"/>
          <p:cNvPicPr preferRelativeResize="0"/>
          <p:nvPr/>
        </p:nvPicPr>
        <p:blipFill rotWithShape="1">
          <a:blip r:embed="rId5">
            <a:alphaModFix/>
          </a:blip>
          <a:srcRect b="0" l="4720" r="-4720" t="0"/>
          <a:stretch/>
        </p:blipFill>
        <p:spPr>
          <a:xfrm>
            <a:off x="2123300" y="283188"/>
            <a:ext cx="1257300" cy="14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64737" y="67400"/>
            <a:ext cx="5238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237775" y="555400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7775" y="1209313"/>
            <a:ext cx="23526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63875" y="1171213"/>
            <a:ext cx="714375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159125" y="503023"/>
            <a:ext cx="52387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7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703600" y="283200"/>
            <a:ext cx="46672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7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908000" y="2953550"/>
            <a:ext cx="5723924" cy="12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0075" y="985175"/>
            <a:ext cx="2881125" cy="33908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8843" y="1135194"/>
            <a:ext cx="1085963" cy="93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Double Spend?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Double spend is a blockchain attack where the attacker spends the same Bitcoin more than once.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creates a new chain in private and attempts to gain acceptance from the network.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successful double spend is a </a:t>
            </a:r>
            <a:r>
              <a:rPr lang="en"/>
              <a:t>fundamental</a:t>
            </a:r>
            <a:r>
              <a:rPr lang="en"/>
              <a:t> threat to cryptocurrency.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Double Spend Equations</a:t>
            </a:r>
            <a:endParaRPr/>
          </a:p>
        </p:txBody>
      </p:sp>
      <p:pic>
        <p:nvPicPr>
          <p:cNvPr id="263" name="Google Shape;263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6924" y="2274450"/>
            <a:ext cx="6400500" cy="1080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id="264" name="Google Shape;264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6925" y="1206888"/>
            <a:ext cx="5087100" cy="878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id="265" name="Google Shape;265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76925" y="3610723"/>
            <a:ext cx="5481900" cy="1045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Requirements</a:t>
            </a:r>
            <a:endParaRPr/>
          </a:p>
        </p:txBody>
      </p:sp>
      <p:sp>
        <p:nvSpPr>
          <p:cNvPr id="271" name="Google Shape;271;p31"/>
          <p:cNvSpPr txBox="1"/>
          <p:nvPr>
            <p:ph idx="1" type="body"/>
          </p:nvPr>
        </p:nvSpPr>
        <p:spPr>
          <a:xfrm>
            <a:off x="311700" y="1152475"/>
            <a:ext cx="8520600" cy="39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Base Functional Requirement: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user can search any transaction on the Bitcoin blockchain and view its double spend risk in real time.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Additional Requirements: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Users can view details of a transaction (inputs, outputs, fees etc.)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View graphical interfaces that display risk information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Ability to explore blocks (if time allows)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2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E6E6E6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Concept</a:t>
            </a:r>
            <a:endParaRPr/>
          </a:p>
        </p:txBody>
      </p:sp>
      <p:pic>
        <p:nvPicPr>
          <p:cNvPr id="277" name="Google Shape;277;p32"/>
          <p:cNvPicPr preferRelativeResize="0"/>
          <p:nvPr/>
        </p:nvPicPr>
        <p:blipFill rotWithShape="1">
          <a:blip r:embed="rId3">
            <a:alphaModFix/>
          </a:blip>
          <a:srcRect b="3642" l="0" r="0" t="0"/>
          <a:stretch/>
        </p:blipFill>
        <p:spPr>
          <a:xfrm>
            <a:off x="0" y="1102900"/>
            <a:ext cx="4391025" cy="319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91025" y="1436613"/>
            <a:ext cx="4752975" cy="2523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Concept - Cont.</a:t>
            </a:r>
            <a:endParaRPr/>
          </a:p>
        </p:txBody>
      </p:sp>
      <p:pic>
        <p:nvPicPr>
          <p:cNvPr id="284" name="Google Shape;284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12" y="2887225"/>
            <a:ext cx="4023690" cy="225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896488"/>
            <a:ext cx="4105275" cy="1990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5400" y="1826075"/>
            <a:ext cx="4257675" cy="234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Concept - Cont.</a:t>
            </a:r>
            <a:endParaRPr/>
          </a:p>
        </p:txBody>
      </p:sp>
      <p:sp>
        <p:nvSpPr>
          <p:cNvPr id="292" name="Google Shape;292;p34"/>
          <p:cNvSpPr txBox="1"/>
          <p:nvPr>
            <p:ph idx="1" type="body"/>
          </p:nvPr>
        </p:nvSpPr>
        <p:spPr>
          <a:xfrm>
            <a:off x="311700" y="1152475"/>
            <a:ext cx="8520600" cy="39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E6E6"/>
                </a:solidFill>
              </a:rPr>
              <a:t>Main Components:</a:t>
            </a:r>
            <a:endParaRPr>
              <a:solidFill>
                <a:srgbClr val="E6E6E6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rgbClr val="E6E6E6"/>
              </a:buClr>
              <a:buSzPts val="1800"/>
              <a:buChar char="●"/>
            </a:pPr>
            <a:r>
              <a:rPr lang="en">
                <a:solidFill>
                  <a:srgbClr val="E6E6E6"/>
                </a:solidFill>
              </a:rPr>
              <a:t>Home page with double-spend information</a:t>
            </a:r>
            <a:endParaRPr>
              <a:solidFill>
                <a:srgbClr val="E6E6E6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800"/>
              <a:buChar char="●"/>
            </a:pPr>
            <a:r>
              <a:rPr lang="en">
                <a:solidFill>
                  <a:srgbClr val="E6E6E6"/>
                </a:solidFill>
              </a:rPr>
              <a:t>Search for transaction with ID and see basic stats along with double spend</a:t>
            </a:r>
            <a:endParaRPr>
              <a:solidFill>
                <a:srgbClr val="E6E6E6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800"/>
              <a:buChar char="●"/>
            </a:pPr>
            <a:r>
              <a:rPr lang="en">
                <a:solidFill>
                  <a:srgbClr val="E6E6E6"/>
                </a:solidFill>
              </a:rPr>
              <a:t>Expandable</a:t>
            </a:r>
            <a:r>
              <a:rPr lang="en">
                <a:solidFill>
                  <a:srgbClr val="E6E6E6"/>
                </a:solidFill>
              </a:rPr>
              <a:t> double spend window for more detailed analysis</a:t>
            </a:r>
            <a:endParaRPr>
              <a:solidFill>
                <a:srgbClr val="E6E6E6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E6E6"/>
              </a:buClr>
              <a:buSzPts val="1800"/>
              <a:buChar char="●"/>
            </a:pPr>
            <a:r>
              <a:rPr lang="en">
                <a:solidFill>
                  <a:srgbClr val="E6E6E6"/>
                </a:solidFill>
              </a:rPr>
              <a:t>Block/transaction explorer</a:t>
            </a:r>
            <a:endParaRPr>
              <a:solidFill>
                <a:srgbClr val="E6E6E6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</a:t>
            </a:r>
            <a:endParaRPr/>
          </a:p>
        </p:txBody>
      </p:sp>
      <p:sp>
        <p:nvSpPr>
          <p:cNvPr id="298" name="Google Shape;298;p35"/>
          <p:cNvSpPr txBox="1"/>
          <p:nvPr>
            <p:ph idx="1" type="body"/>
          </p:nvPr>
        </p:nvSpPr>
        <p:spPr>
          <a:xfrm>
            <a:off x="311700" y="1152475"/>
            <a:ext cx="8520600" cy="386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4 main components: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Blazor Web Interface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ASP.NET Core API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Python Worker</a:t>
            </a:r>
            <a:endParaRPr/>
          </a:p>
          <a:p>
            <a:pPr indent="-317500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FastAPI</a:t>
            </a:r>
            <a:endParaRPr/>
          </a:p>
          <a:p>
            <a:pPr indent="-317500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Math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Bitcoin Node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plans for database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new calls for new transactions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 likely utilize server caching or client memory caching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 Level Architecture</a:t>
            </a:r>
            <a:endParaRPr/>
          </a:p>
        </p:txBody>
      </p:sp>
      <p:pic>
        <p:nvPicPr>
          <p:cNvPr id="304" name="Google Shape;304;p36" title="HighLevelArchitecture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150" y="-170225"/>
            <a:ext cx="6889401" cy="4542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Sequence Diagram</a:t>
            </a:r>
            <a:endParaRPr/>
          </a:p>
        </p:txBody>
      </p:sp>
      <p:pic>
        <p:nvPicPr>
          <p:cNvPr id="310" name="Google Shape;310;p37" title="SearchFlow-DSCapArchitecture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3263" y="1017725"/>
            <a:ext cx="5677474" cy="38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Double-spend graph challenges</a:t>
            </a:r>
            <a:endParaRPr/>
          </a:p>
        </p:txBody>
      </p:sp>
      <p:sp>
        <p:nvSpPr>
          <p:cNvPr id="316" name="Google Shape;316;p38"/>
          <p:cNvSpPr txBox="1"/>
          <p:nvPr>
            <p:ph idx="1" type="body"/>
          </p:nvPr>
        </p:nvSpPr>
        <p:spPr>
          <a:xfrm>
            <a:off x="311700" y="1152475"/>
            <a:ext cx="8520600" cy="38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Imagine a 10 year old transaction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10 years * 365 days * 24 hours * 60 minutes * 60 seconds = ~315m points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Level of </a:t>
            </a:r>
            <a:r>
              <a:rPr lang="en"/>
              <a:t>Detail (LOD) </a:t>
            </a:r>
            <a:r>
              <a:rPr lang="en"/>
              <a:t> Time-Series Rendering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Dynamically reduce data points based on viewing distance, screen resolution, or zoom level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Largest Triangle Three Buckets (LTTP)</a:t>
            </a:r>
            <a:endParaRPr/>
          </a:p>
          <a:p>
            <a:pPr indent="-317500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Reduce number of data points</a:t>
            </a:r>
            <a:endParaRPr/>
          </a:p>
          <a:p>
            <a:pPr indent="-317500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Keep graph shape</a:t>
            </a:r>
            <a:endParaRPr/>
          </a:p>
        </p:txBody>
      </p:sp>
      <p:pic>
        <p:nvPicPr>
          <p:cNvPr id="317" name="Google Shape;317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90000" y="185340"/>
            <a:ext cx="2672400" cy="1296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id="318" name="Google Shape;318;p38" title="downsamplLTTB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33625" y="3063050"/>
            <a:ext cx="2868475" cy="19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Double-spend graph challenges - Cont.</a:t>
            </a:r>
            <a:endParaRPr/>
          </a:p>
        </p:txBody>
      </p:sp>
      <p:sp>
        <p:nvSpPr>
          <p:cNvPr id="324" name="Google Shape;324;p39"/>
          <p:cNvSpPr txBox="1"/>
          <p:nvPr>
            <p:ph idx="1" type="body"/>
          </p:nvPr>
        </p:nvSpPr>
        <p:spPr>
          <a:xfrm>
            <a:off x="311700" y="1152475"/>
            <a:ext cx="8520600" cy="38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Refreshing Data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wants dynamic refreshing graph in MS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Option A (easy MVP): short polling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Client side timer; request updated curve every X seconds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 Option B (harder): streaming pipeline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Server pushes data as its computed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for changes constantly such as time or # of confirmations</a:t>
            </a:r>
            <a:endParaRPr/>
          </a:p>
        </p:txBody>
      </p:sp>
      <p:pic>
        <p:nvPicPr>
          <p:cNvPr id="325" name="Google Shape;325;p39" title="graphRefreshQuick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2538" y="2899675"/>
            <a:ext cx="2066925" cy="15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39" title="graphRefreshSeconds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56450" y="1152475"/>
            <a:ext cx="2937676" cy="1116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Graph Goals</a:t>
            </a:r>
            <a:endParaRPr/>
          </a:p>
        </p:txBody>
      </p:sp>
      <p:sp>
        <p:nvSpPr>
          <p:cNvPr id="332" name="Google Shape;332;p40"/>
          <p:cNvSpPr txBox="1"/>
          <p:nvPr>
            <p:ph idx="1" type="body"/>
          </p:nvPr>
        </p:nvSpPr>
        <p:spPr>
          <a:xfrm>
            <a:off x="311700" y="1152475"/>
            <a:ext cx="8651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default, render full history with downsampled LOD data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time per transaction for each time interval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Included different time intervals such as full history, 1 year, 1 month, 1 day, etc.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render dynamically when zoomed at the end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Real time updates </a:t>
            </a:r>
            <a:r>
              <a:rPr lang="en"/>
              <a:t>imperceivable</a:t>
            </a:r>
            <a:r>
              <a:rPr lang="en"/>
              <a:t> at scale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MVP: Refresh relatively live such as 1HZ or 2HZ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End Goal: Refresh very quickly, no pausing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Slightly Updated Sequence Diagram</a:t>
            </a:r>
            <a:endParaRPr/>
          </a:p>
        </p:txBody>
      </p:sp>
      <p:pic>
        <p:nvPicPr>
          <p:cNvPr id="338" name="Google Shape;338;p41" title="DynicamSequenceDoubleSpen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6488" y="1156553"/>
            <a:ext cx="6691025" cy="352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</a:t>
            </a:r>
            <a:endParaRPr/>
          </a:p>
        </p:txBody>
      </p:sp>
      <p:sp>
        <p:nvSpPr>
          <p:cNvPr id="344" name="Google Shape;344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Backend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Postman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Frontend &amp; Backend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End-to-end (E2E)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Dr. Neumayer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Roles</a:t>
            </a:r>
            <a:endParaRPr/>
          </a:p>
        </p:txBody>
      </p:sp>
      <p:sp>
        <p:nvSpPr>
          <p:cNvPr id="350" name="Google Shape;350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Caden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Tester, Backend, Python BTC Worker API, Bitcoin Server node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Derek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Tester, Frontend, Backend, Web API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Lars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Tester, Frontend, Backend, Python BTC Worker Math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Zong</a:t>
            </a:r>
            <a:endParaRPr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Tester, Frontend, Web Interface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Questions??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References</a:t>
            </a:r>
            <a:endParaRPr sz="3000"/>
          </a:p>
        </p:txBody>
      </p:sp>
      <p:sp>
        <p:nvSpPr>
          <p:cNvPr id="361" name="Google Shape;361;p45"/>
          <p:cNvSpPr txBox="1"/>
          <p:nvPr>
            <p:ph idx="1" type="body"/>
          </p:nvPr>
        </p:nvSpPr>
        <p:spPr>
          <a:xfrm>
            <a:off x="311700" y="12219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CSCE A375 </a:t>
            </a:r>
            <a:r>
              <a:rPr lang="en"/>
              <a:t>Cryptocurrency</a:t>
            </a:r>
            <a:r>
              <a:rPr lang="en"/>
              <a:t> Slides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https://docs.webix.com/desktop__dynamic_chart.html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https://www.geeksforgeeks.org/python/dynamically-updating-plot-in-matplotlib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https://pypi.org/project/lttb/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FFD966"/>
      </a:dk1>
      <a:lt1>
        <a:srgbClr val="292929"/>
      </a:lt1>
      <a:dk2>
        <a:srgbClr val="E6E6E6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